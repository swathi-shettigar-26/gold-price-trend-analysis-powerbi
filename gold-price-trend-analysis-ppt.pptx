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p:scale>
          <a:sx n="92" d="100"/>
          <a:sy n="92" d="100"/>
        </p:scale>
        <p:origin x="-307" y="86"/>
      </p:cViewPr>
      <p:guideLst>
        <p:guide orient="horz" pos="672"/>
        <p:guide orient="horz" pos="912"/>
        <p:guide pos="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 xmlns:a16="http://schemas.microsoft.com/office/drawing/2014/main" id="{66C649D9-DD8B-5B7D-F409-A3797AEF3D36}"/>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 xmlns:a16="http://schemas.microsoft.com/office/drawing/2014/main" id="{4D362339-2CD4-BEA9-8BCD-81A300A3C9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 xmlns:a16="http://schemas.microsoft.com/office/drawing/2014/main" id="{91DC6ABD-215C-4EA8-A483-CEF5B99AB38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 xmlns:a16="http://schemas.microsoft.com/office/drawing/2014/main" id="{0F837936-4230-3A98-A2A1-6E77E027B36D}"/>
              </a:ext>
            </a:extLst>
          </p:cNvPr>
          <p:cNvSpPr>
            <a:spLocks noGrp="1"/>
          </p:cNvSpPr>
          <p:nvPr/>
        </p:nvSpPr>
        <p:spPr>
          <a:xfrm>
            <a:off x="517379" y="1343054"/>
            <a:ext cx="5725479" cy="2506766"/>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smtClean="0">
                <a:latin typeface="+mj-lt"/>
                <a:ea typeface="+mj-ea"/>
                <a:cs typeface="+mj-cs"/>
              </a:rPr>
              <a:t>CAPSTONE </a:t>
            </a:r>
            <a:r>
              <a:rPr lang="en-US" sz="2800" b="1" dirty="0"/>
              <a:t>PROJECT</a:t>
            </a:r>
            <a:endParaRPr lang="en-US" sz="5100" dirty="0">
              <a:latin typeface="Aptos"/>
            </a:endParaRPr>
          </a:p>
          <a:p>
            <a:pPr algn="l"/>
            <a:r>
              <a:rPr lang="en-US" sz="5100" b="1" dirty="0"/>
              <a:t/>
            </a:r>
            <a:br>
              <a:rPr lang="en-US" sz="5100" b="1" dirty="0"/>
            </a:br>
            <a:r>
              <a:rPr lang="en-US" sz="5100" b="1" cap="all" dirty="0" smtClean="0">
                <a:latin typeface="Aptos"/>
              </a:rPr>
              <a:t>Gold Price Trend and market analysis</a:t>
            </a:r>
            <a:endParaRPr lang="en-US" sz="5100" dirty="0">
              <a:latin typeface="Aptos"/>
            </a:endParaRPr>
          </a:p>
          <a:p>
            <a:pPr algn="l"/>
            <a:endParaRPr lang="en-US" sz="5100" b="1" kern="1200" dirty="0"/>
          </a:p>
        </p:txBody>
      </p:sp>
      <p:sp>
        <p:nvSpPr>
          <p:cNvPr id="5" name="Subtitle 2">
            <a:extLst>
              <a:ext uri="{FF2B5EF4-FFF2-40B4-BE49-F238E27FC236}">
                <a16:creationId xmlns="" xmlns:a16="http://schemas.microsoft.com/office/drawing/2014/main" id="{3A663A0C-3931-F8E6-391C-2FF1FDBB09CD}"/>
              </a:ext>
            </a:extLst>
          </p:cNvPr>
          <p:cNvSpPr>
            <a:spLocks noGrp="1"/>
          </p:cNvSpPr>
          <p:nvPr/>
        </p:nvSpPr>
        <p:spPr>
          <a:xfrm>
            <a:off x="594126" y="3739889"/>
            <a:ext cx="5008651"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r>
              <a:rPr lang="en-US" sz="1600" b="1" cap="all" dirty="0" smtClean="0"/>
              <a:t>: SWATHI R</a:t>
            </a:r>
            <a:endParaRPr lang="en-US" sz="1600" b="1" cap="all" dirty="0"/>
          </a:p>
          <a:p>
            <a:pPr algn="l">
              <a:spcAft>
                <a:spcPts val="600"/>
              </a:spcAft>
            </a:pPr>
            <a:r>
              <a:rPr lang="en-US" sz="1600" b="1" cap="all" dirty="0"/>
              <a:t>College </a:t>
            </a:r>
            <a:r>
              <a:rPr lang="en-US" sz="1600" b="1" cap="all" dirty="0" smtClean="0"/>
              <a:t>Name: </a:t>
            </a:r>
            <a:r>
              <a:rPr lang="en-US" sz="1600" b="1" cap="all" dirty="0" err="1" smtClean="0"/>
              <a:t>Sapthagiri</a:t>
            </a:r>
            <a:r>
              <a:rPr lang="en-US" sz="1600" b="1" cap="all" dirty="0" smtClean="0"/>
              <a:t> </a:t>
            </a:r>
            <a:r>
              <a:rPr lang="en-US" sz="1600" b="1" cap="all" dirty="0" err="1" smtClean="0"/>
              <a:t>nps</a:t>
            </a:r>
            <a:r>
              <a:rPr lang="en-US" sz="1600" b="1" cap="all" dirty="0" smtClean="0"/>
              <a:t> university</a:t>
            </a:r>
          </a:p>
          <a:p>
            <a:pPr algn="l">
              <a:spcAft>
                <a:spcPts val="600"/>
              </a:spcAft>
            </a:pPr>
            <a:r>
              <a:rPr lang="en-US" sz="1600" b="1" cap="all" dirty="0" smtClean="0"/>
              <a:t>Department: Computer science and engineering</a:t>
            </a:r>
            <a:endParaRPr lang="en-US" sz="1600" b="1" cap="all" dirty="0"/>
          </a:p>
          <a:p>
            <a:pPr algn="l">
              <a:spcAft>
                <a:spcPts val="600"/>
              </a:spcAft>
            </a:pPr>
            <a:r>
              <a:rPr lang="en-US" sz="1600" b="1" cap="all" dirty="0"/>
              <a:t>Email </a:t>
            </a:r>
            <a:r>
              <a:rPr lang="en-US" sz="1600" b="1" cap="all" dirty="0" smtClean="0"/>
              <a:t>ID: swathirshettigar2006@gmail.com</a:t>
            </a:r>
            <a:endParaRPr lang="en-US" sz="1600" b="1" cap="all" dirty="0">
              <a:latin typeface="Centaur" panose="02030504050205020304" pitchFamily="18" charset="0"/>
            </a:endParaRPr>
          </a:p>
        </p:txBody>
      </p:sp>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06489" y="879545"/>
            <a:ext cx="3400252" cy="453366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b="1" dirty="0" smtClean="0">
              <a:latin typeface="Arial"/>
              <a:cs typeface="Arial"/>
            </a:endParaRPr>
          </a:p>
          <a:p>
            <a:pPr marL="305435" indent="-305435">
              <a:spcBef>
                <a:spcPct val="20000"/>
              </a:spcBef>
              <a:spcAft>
                <a:spcPts val="600"/>
              </a:spcAft>
            </a:pPr>
            <a:r>
              <a:rPr lang="en-US" sz="2200" b="1" dirty="0" smtClean="0">
                <a:latin typeface="Arial"/>
                <a:cs typeface="Arial"/>
              </a:rPr>
              <a:t>Proposed </a:t>
            </a:r>
            <a:r>
              <a:rPr lang="en-US" sz="2200" b="1" dirty="0">
                <a:latin typeface="Arial"/>
                <a:cs typeface="Arial"/>
              </a:rPr>
              <a:t>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p>
          <a:p>
            <a:pPr marL="305435" indent="-305435">
              <a:spcBef>
                <a:spcPct val="20000"/>
              </a:spcBef>
              <a:spcAft>
                <a:spcPts val="600"/>
              </a:spcAft>
            </a:pPr>
            <a:r>
              <a:rPr lang="en-US" sz="2200" b="1" dirty="0" smtClean="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39B35C-A00A-C6C7-8532-576758ED4255}"/>
              </a:ext>
            </a:extLst>
          </p:cNvPr>
          <p:cNvSpPr>
            <a:spLocks noGrp="1"/>
          </p:cNvSpPr>
          <p:nvPr>
            <p:ph type="title"/>
          </p:nvPr>
        </p:nvSpPr>
        <p:spPr>
          <a:xfrm>
            <a:off x="99753" y="81128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Gold </a:t>
            </a:r>
            <a:r>
              <a:rPr lang="en-US" sz="2000" dirty="0">
                <a:latin typeface="Times New Roman" panose="02020603050405020304" pitchFamily="18" charset="0"/>
                <a:cs typeface="Times New Roman" panose="02020603050405020304" pitchFamily="18" charset="0"/>
              </a:rPr>
              <a:t>prices fluctuate continuously due to changing economic conditions, inflation, global market trends, and investor behavior. These frequent variations make it difficult for investors and analysts to clearly understand long term trends, volatility patterns, and trading activity using raw data alone. Without structured analysis, identifying price movements, peak and low periods, and overall market behavior becomes challenging, highlighting the need to systematically examine historical gold price data to better understand market dynamics.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7B4B1-584E-2479-D762-2265C7398D27}"/>
              </a:ext>
            </a:extLst>
          </p:cNvPr>
          <p:cNvSpPr>
            <a:spLocks noGrp="1"/>
          </p:cNvSpPr>
          <p:nvPr>
            <p:ph type="title"/>
          </p:nvPr>
        </p:nvSpPr>
        <p:spPr>
          <a:xfrm>
            <a:off x="174567" y="802755"/>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0" indent="0">
              <a:spcBef>
                <a:spcPct val="20000"/>
              </a:spcBef>
              <a:spcAft>
                <a:spcPts val="600"/>
              </a:spcAft>
              <a:buNone/>
            </a:pPr>
            <a:r>
              <a:rPr lang="en-US" sz="2000" dirty="0" smtClean="0">
                <a:latin typeface="Times New Roman" panose="02020603050405020304" pitchFamily="18" charset="0"/>
                <a:cs typeface="Times New Roman" panose="02020603050405020304" pitchFamily="18" charset="0"/>
              </a:rPr>
              <a:t>                  </a:t>
            </a:r>
          </a:p>
          <a:p>
            <a:pPr marL="0" indent="0">
              <a:spcBef>
                <a:spcPct val="20000"/>
              </a:spcBef>
              <a:spcAft>
                <a:spcPts val="600"/>
              </a:spcAft>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To </a:t>
            </a:r>
            <a:r>
              <a:rPr lang="en-US" sz="2000" dirty="0">
                <a:latin typeface="Times New Roman" panose="02020603050405020304" pitchFamily="18" charset="0"/>
                <a:cs typeface="Times New Roman" panose="02020603050405020304" pitchFamily="18" charset="0"/>
              </a:rPr>
              <a:t>address this problem, an interactive data analytics dashboard is developed using Power BI to systematically analyze historical gold price data. The solution organizes and visualizes key indicators such as open, high, low, close prices, and trading volume to identify trends, volatility patterns, and market behavior over time. Advanced features like time series forecasting and scenario analysis are incorporated to estimate future price movements and evaluate potential market changes. This structured analytical approach enables clearer interpretation of gold price trends and supports more informed financial analysis.</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292D15-41B4-89C1-0EA3-03BC9FA16F97}"/>
              </a:ext>
            </a:extLst>
          </p:cNvPr>
          <p:cNvSpPr>
            <a:spLocks noGrp="1"/>
          </p:cNvSpPr>
          <p:nvPr>
            <p:ph type="title"/>
          </p:nvPr>
        </p:nvSpPr>
        <p:spPr>
          <a:xfrm>
            <a:off x="207270"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 xmlns:a16="http://schemas.microsoft.com/office/drawing/2014/main" id="{FE07E8EE-7F26-D809-3523-C58876935A4E}"/>
              </a:ext>
            </a:extLst>
          </p:cNvPr>
          <p:cNvSpPr>
            <a:spLocks noGrp="1"/>
          </p:cNvSpPr>
          <p:nvPr>
            <p:ph idx="1"/>
          </p:nvPr>
        </p:nvSpPr>
        <p:spPr>
          <a:xfrm>
            <a:off x="367285" y="1299950"/>
            <a:ext cx="10515600" cy="4251960"/>
          </a:xfrm>
        </p:spPr>
        <p:txBody>
          <a:bodyPr vert="horz" lIns="91440" tIns="45720" rIns="91440" bIns="45720" rtlCol="0">
            <a:noAutofit/>
          </a:bodyPr>
          <a:lstStyle/>
          <a:p>
            <a:pPr>
              <a:lnSpc>
                <a:spcPct val="120000"/>
              </a:lnSpc>
            </a:pPr>
            <a:r>
              <a:rPr lang="en-US" sz="1200" b="1" dirty="0">
                <a:latin typeface="Times New Roman" panose="02020603050405020304" pitchFamily="18" charset="0"/>
                <a:cs typeface="Times New Roman" panose="02020603050405020304" pitchFamily="18" charset="0"/>
              </a:rPr>
              <a:t>Data Collection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Gather historical gold price data containing date, open, high, low, close, and trading volume.</a:t>
            </a:r>
          </a:p>
          <a:p>
            <a:pPr>
              <a:lnSpc>
                <a:spcPct val="120000"/>
              </a:lnSpc>
            </a:pPr>
            <a:r>
              <a:rPr lang="en-US" sz="1200" b="1" dirty="0">
                <a:latin typeface="Times New Roman" panose="02020603050405020304" pitchFamily="18" charset="0"/>
                <a:cs typeface="Times New Roman" panose="02020603050405020304" pitchFamily="18" charset="0"/>
              </a:rPr>
              <a:t>Data Cleaning and Preparation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Perform data preprocessing in Power BI by correcting data types, handling missing values, removing duplicates, and structuring the dataset for analysis.</a:t>
            </a:r>
          </a:p>
          <a:p>
            <a:pPr>
              <a:lnSpc>
                <a:spcPct val="120000"/>
              </a:lnSpc>
            </a:pPr>
            <a:r>
              <a:rPr lang="en-US" sz="1200" b="1" dirty="0">
                <a:latin typeface="Times New Roman" panose="02020603050405020304" pitchFamily="18" charset="0"/>
                <a:cs typeface="Times New Roman" panose="02020603050405020304" pitchFamily="18" charset="0"/>
              </a:rPr>
              <a:t>Data Modeling</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Create appropriate data relationships and calculated measures to support trend analysis and performance evaluation.</a:t>
            </a:r>
          </a:p>
          <a:p>
            <a:pPr>
              <a:lnSpc>
                <a:spcPct val="120000"/>
              </a:lnSpc>
            </a:pPr>
            <a:r>
              <a:rPr lang="en-US" sz="1200" b="1" dirty="0">
                <a:latin typeface="Times New Roman" panose="02020603050405020304" pitchFamily="18" charset="0"/>
                <a:cs typeface="Times New Roman" panose="02020603050405020304" pitchFamily="18" charset="0"/>
              </a:rPr>
              <a:t>KPI Development</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Define key performance indicators such as average price, highest price, lowest price, price change, and total trading volume.</a:t>
            </a:r>
          </a:p>
          <a:p>
            <a:pPr>
              <a:lnSpc>
                <a:spcPct val="120000"/>
              </a:lnSpc>
            </a:pPr>
            <a:r>
              <a:rPr lang="en-US" sz="1200" b="1" dirty="0">
                <a:latin typeface="Times New Roman" panose="02020603050405020304" pitchFamily="18" charset="0"/>
                <a:cs typeface="Times New Roman" panose="02020603050405020304" pitchFamily="18" charset="0"/>
              </a:rPr>
              <a:t>Visualization Design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Develop interactive dashboards using line charts, bar charts, donut charts, and matrix visuals to analyze trends and market behavior.</a:t>
            </a:r>
          </a:p>
          <a:p>
            <a:pPr>
              <a:lnSpc>
                <a:spcPct val="120000"/>
              </a:lnSpc>
            </a:pPr>
            <a:r>
              <a:rPr lang="en-US" sz="1200" b="1" dirty="0">
                <a:latin typeface="Times New Roman" panose="02020603050405020304" pitchFamily="18" charset="0"/>
                <a:cs typeface="Times New Roman" panose="02020603050405020304" pitchFamily="18" charset="0"/>
              </a:rPr>
              <a:t>Trend and Volatility Analysis</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Examine historical patterns to identify upward trends, downward trends, and price fluctuations over different time periods.</a:t>
            </a:r>
          </a:p>
          <a:p>
            <a:pPr>
              <a:lnSpc>
                <a:spcPct val="120000"/>
              </a:lnSpc>
            </a:pPr>
            <a:r>
              <a:rPr lang="en-US" sz="1200" b="1" dirty="0">
                <a:latin typeface="Times New Roman" panose="02020603050405020304" pitchFamily="18" charset="0"/>
                <a:cs typeface="Times New Roman" panose="02020603050405020304" pitchFamily="18" charset="0"/>
              </a:rPr>
              <a:t>Forecasting Implementation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Apply time series forecasting techniques within Power BI to estimate future price movements.</a:t>
            </a:r>
          </a:p>
          <a:p>
            <a:pPr>
              <a:lnSpc>
                <a:spcPct val="120000"/>
              </a:lnSpc>
            </a:pPr>
            <a:r>
              <a:rPr lang="en-US" sz="1200" b="1" dirty="0">
                <a:latin typeface="Times New Roman" panose="02020603050405020304" pitchFamily="18" charset="0"/>
                <a:cs typeface="Times New Roman" panose="02020603050405020304" pitchFamily="18" charset="0"/>
              </a:rPr>
              <a:t>Scenario Simulation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Use What If parameters to analyze the impact of hypothetical price changes.</a:t>
            </a:r>
          </a:p>
          <a:p>
            <a:pPr>
              <a:lnSpc>
                <a:spcPct val="120000"/>
              </a:lnSpc>
            </a:pPr>
            <a:r>
              <a:rPr lang="en-US" sz="1200" b="1" dirty="0">
                <a:latin typeface="Times New Roman" panose="02020603050405020304" pitchFamily="18" charset="0"/>
                <a:cs typeface="Times New Roman" panose="02020603050405020304" pitchFamily="18" charset="0"/>
              </a:rPr>
              <a:t>Insight Generation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Interpret visual findings to understand market dynamics and support analytical conclusions.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3DBEE6-616C-2711-86DB-C62E77D17F92}"/>
              </a:ext>
            </a:extLst>
          </p:cNvPr>
          <p:cNvSpPr>
            <a:spLocks noGrp="1"/>
          </p:cNvSpPr>
          <p:nvPr>
            <p:ph type="title"/>
          </p:nvPr>
        </p:nvSpPr>
        <p:spPr>
          <a:xfrm>
            <a:off x="156750" y="769721"/>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lnSpcReduction="10000"/>
          </a:bodyPr>
          <a:lstStyle/>
          <a:p>
            <a:pPr marL="0" indent="0">
              <a:buNone/>
            </a:pPr>
            <a:r>
              <a:rPr lang="en-US" sz="1600" b="1"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    Algorithm</a:t>
            </a:r>
            <a:r>
              <a:rPr lang="en-US" sz="1600" b="1"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Import and preprocess historical gold price data.</a:t>
            </a:r>
          </a:p>
          <a:p>
            <a:r>
              <a:rPr lang="en-US" sz="1600" dirty="0">
                <a:latin typeface="Times New Roman" panose="02020603050405020304" pitchFamily="18" charset="0"/>
                <a:cs typeface="Times New Roman" panose="02020603050405020304" pitchFamily="18" charset="0"/>
              </a:rPr>
              <a:t>Validate data types and remove inconsistencies.</a:t>
            </a:r>
          </a:p>
          <a:p>
            <a:r>
              <a:rPr lang="en-US" sz="1600" dirty="0">
                <a:latin typeface="Times New Roman" panose="02020603050405020304" pitchFamily="18" charset="0"/>
                <a:cs typeface="Times New Roman" panose="02020603050405020304" pitchFamily="18" charset="0"/>
              </a:rPr>
              <a:t>Create necessary calculated measures and date table for time based analysis.</a:t>
            </a:r>
          </a:p>
          <a:p>
            <a:r>
              <a:rPr lang="en-US" sz="1600" dirty="0">
                <a:latin typeface="Times New Roman" panose="02020603050405020304" pitchFamily="18" charset="0"/>
                <a:cs typeface="Times New Roman" panose="02020603050405020304" pitchFamily="18" charset="0"/>
              </a:rPr>
              <a:t>Develop interactive visualizations to analyze price trends and market volatility.</a:t>
            </a:r>
          </a:p>
          <a:p>
            <a:r>
              <a:rPr lang="en-US" sz="1600" dirty="0">
                <a:latin typeface="Times New Roman" panose="02020603050405020304" pitchFamily="18" charset="0"/>
                <a:cs typeface="Times New Roman" panose="02020603050405020304" pitchFamily="18" charset="0"/>
              </a:rPr>
              <a:t>Apply forecasting techniques to estimate future gold price movements.</a:t>
            </a:r>
          </a:p>
          <a:p>
            <a:r>
              <a:rPr lang="en-US" sz="1600" dirty="0">
                <a:latin typeface="Times New Roman" panose="02020603050405020304" pitchFamily="18" charset="0"/>
                <a:cs typeface="Times New Roman" panose="02020603050405020304" pitchFamily="18" charset="0"/>
              </a:rPr>
              <a:t>Perform scenario analysis using What If parameters.</a:t>
            </a:r>
          </a:p>
          <a:p>
            <a:r>
              <a:rPr lang="en-US" sz="1600" dirty="0">
                <a:latin typeface="Times New Roman" panose="02020603050405020304" pitchFamily="18" charset="0"/>
                <a:cs typeface="Times New Roman" panose="02020603050405020304" pitchFamily="18" charset="0"/>
              </a:rPr>
              <a:t>Generate insights based on visual analysis.</a:t>
            </a:r>
          </a:p>
          <a:p>
            <a:pPr marL="0" indent="0">
              <a:buNone/>
            </a:pPr>
            <a:r>
              <a:rPr lang="en-US" sz="1600" b="1" dirty="0" smtClean="0">
                <a:latin typeface="Times New Roman" panose="02020603050405020304" pitchFamily="18" charset="0"/>
                <a:cs typeface="Times New Roman" panose="02020603050405020304" pitchFamily="18" charset="0"/>
              </a:rPr>
              <a:t>     Deployment</a:t>
            </a:r>
            <a:r>
              <a:rPr lang="en-US" sz="1600" b="1"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Publish the completed report to Power BI Service.</a:t>
            </a:r>
          </a:p>
          <a:p>
            <a:r>
              <a:rPr lang="en-US" sz="1600" dirty="0">
                <a:latin typeface="Times New Roman" panose="02020603050405020304" pitchFamily="18" charset="0"/>
                <a:cs typeface="Times New Roman" panose="02020603050405020304" pitchFamily="18" charset="0"/>
              </a:rPr>
              <a:t>Configure automatic data refresh for updated analysis.</a:t>
            </a:r>
          </a:p>
          <a:p>
            <a:r>
              <a:rPr lang="en-US" sz="1600" dirty="0">
                <a:latin typeface="Times New Roman" panose="02020603050405020304" pitchFamily="18" charset="0"/>
                <a:cs typeface="Times New Roman" panose="02020603050405020304" pitchFamily="18" charset="0"/>
              </a:rPr>
              <a:t>Share dashboard access with authorized users.</a:t>
            </a:r>
          </a:p>
          <a:p>
            <a:r>
              <a:rPr lang="en-US" sz="1600" dirty="0">
                <a:latin typeface="Times New Roman" panose="02020603050405020304" pitchFamily="18" charset="0"/>
                <a:cs typeface="Times New Roman" panose="02020603050405020304" pitchFamily="18" charset="0"/>
              </a:rPr>
              <a:t>Maintain security, access control, and performance monitoring.</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8F756E-D4E1-5A9A-636A-7FA06EC394F3}"/>
              </a:ext>
            </a:extLst>
          </p:cNvPr>
          <p:cNvSpPr>
            <a:spLocks noGrp="1"/>
          </p:cNvSpPr>
          <p:nvPr>
            <p:ph type="title"/>
          </p:nvPr>
        </p:nvSpPr>
        <p:spPr>
          <a:xfrm>
            <a:off x="231566" y="719628"/>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 xmlns:a16="http://schemas.microsoft.com/office/drawing/2014/main" id="{66102C9B-C4AF-D0DB-DE74-862D9812001C}"/>
              </a:ext>
            </a:extLst>
          </p:cNvPr>
          <p:cNvSpPr>
            <a:spLocks noGrp="1"/>
          </p:cNvSpPr>
          <p:nvPr>
            <p:ph idx="1"/>
          </p:nvPr>
        </p:nvSpPr>
        <p:spPr>
          <a:xfrm>
            <a:off x="404638" y="1359660"/>
            <a:ext cx="10515600" cy="2031934"/>
          </a:xfrm>
        </p:spPr>
        <p:txBody>
          <a:bodyPr vert="horz" lIns="91440" tIns="45720" rIns="91440" bIns="45720" rtlCol="0">
            <a:normAutofit/>
          </a:bodyPr>
          <a:lstStyle/>
          <a:p>
            <a:pPr marL="0" indent="0">
              <a:buNone/>
            </a:pPr>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analysis of historical gold price data revealed clear trend patterns, fluctuations, and variations in market activity over time. The dashboard effectively highlighted periods of price growth and decline, as well as the highest and lowest price levels within the dataset. Trading volume analysis provided insights into market volatility and investor participation. The forecasting model generated short term future price estimates with defined confidence levels, while scenario analysis demonstrated the potential impact of price changes. Overall, the results enabled a comprehensive understanding of gold market behavior through structured and interactive data visualization.</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9990" y="3649288"/>
            <a:ext cx="3865993" cy="257863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4939" y="3649288"/>
            <a:ext cx="3987238" cy="2578634"/>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79229" y="3649289"/>
            <a:ext cx="3549535" cy="2560318"/>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B396BB-D4E8-514D-53F4-27AADA666CBB}"/>
              </a:ext>
            </a:extLst>
          </p:cNvPr>
          <p:cNvSpPr>
            <a:spLocks noGrp="1"/>
          </p:cNvSpPr>
          <p:nvPr>
            <p:ph type="title"/>
          </p:nvPr>
        </p:nvSpPr>
        <p:spPr>
          <a:xfrm>
            <a:off x="257695" y="747650"/>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000" dirty="0" smtClean="0">
                <a:latin typeface="Times New Roman" panose="02020603050405020304" pitchFamily="18" charset="0"/>
                <a:cs typeface="Times New Roman" panose="02020603050405020304" pitchFamily="18" charset="0"/>
              </a:rPr>
              <a:t>                 This </a:t>
            </a:r>
            <a:r>
              <a:rPr lang="en-US" sz="2000" dirty="0">
                <a:latin typeface="Times New Roman" panose="02020603050405020304" pitchFamily="18" charset="0"/>
                <a:cs typeface="Times New Roman" panose="02020603050405020304" pitchFamily="18" charset="0"/>
              </a:rPr>
              <a:t>project successfully analyzed historical gold price data to understand market trends, price fluctuations, and trading behavior. Through structured data modeling and interactive visualizations, meaningful insights into volatility, peak periods, and overall market patterns were identified. The integration of forecasting and scenario analysis further enhanced the analytical depth of the study. Overall, the dashboard provides a comprehensive and data driven view of gold price dynamics, supporting better interpretation of market behavior.</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D403C0-6D6C-CF0D-D01B-94F3DED1DC7F}"/>
              </a:ext>
            </a:extLst>
          </p:cNvPr>
          <p:cNvSpPr>
            <a:spLocks noGrp="1"/>
          </p:cNvSpPr>
          <p:nvPr>
            <p:ph type="title"/>
          </p:nvPr>
        </p:nvSpPr>
        <p:spPr>
          <a:xfrm>
            <a:off x="157394" y="780901"/>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r>
              <a:rPr lang="en-US" sz="2000" dirty="0">
                <a:latin typeface="Times New Roman" panose="02020603050405020304" pitchFamily="18" charset="0"/>
                <a:cs typeface="Times New Roman" panose="02020603050405020304" pitchFamily="18" charset="0"/>
              </a:rPr>
              <a:t>Integrate real time gold price data using live data sources or APIs.</a:t>
            </a:r>
          </a:p>
          <a:p>
            <a:r>
              <a:rPr lang="en-US" sz="2000" dirty="0">
                <a:latin typeface="Times New Roman" panose="02020603050405020304" pitchFamily="18" charset="0"/>
                <a:cs typeface="Times New Roman" panose="02020603050405020304" pitchFamily="18" charset="0"/>
              </a:rPr>
              <a:t>Enhance forecasting accuracy using advanced machine learning models.</a:t>
            </a:r>
          </a:p>
          <a:p>
            <a:r>
              <a:rPr lang="en-US" sz="2000" dirty="0">
                <a:latin typeface="Times New Roman" panose="02020603050405020304" pitchFamily="18" charset="0"/>
                <a:cs typeface="Times New Roman" panose="02020603050405020304" pitchFamily="18" charset="0"/>
              </a:rPr>
              <a:t>Compare gold prices with other financial assets such as stocks or cryptocurrencies for broader market analysis.</a:t>
            </a:r>
          </a:p>
          <a:p>
            <a:r>
              <a:rPr lang="en-US" sz="2000" dirty="0">
                <a:latin typeface="Times New Roman" panose="02020603050405020304" pitchFamily="18" charset="0"/>
                <a:cs typeface="Times New Roman" panose="02020603050405020304" pitchFamily="18" charset="0"/>
              </a:rPr>
              <a:t>Incorporate macroeconomic indicators like inflation rate and currency exchange rates to study their impact on gold prices.</a:t>
            </a:r>
          </a:p>
          <a:p>
            <a:r>
              <a:rPr lang="en-US" sz="2000" dirty="0">
                <a:latin typeface="Times New Roman" panose="02020603050405020304" pitchFamily="18" charset="0"/>
                <a:cs typeface="Times New Roman" panose="02020603050405020304" pitchFamily="18" charset="0"/>
              </a:rPr>
              <a:t>Develop automated alerts for significant price changes or trend reversals.</a:t>
            </a:r>
          </a:p>
          <a:p>
            <a:r>
              <a:rPr lang="en-US" sz="2000" dirty="0">
                <a:latin typeface="Times New Roman" panose="02020603050405020304" pitchFamily="18" charset="0"/>
                <a:cs typeface="Times New Roman" panose="02020603050405020304" pitchFamily="18" charset="0"/>
              </a:rPr>
              <a:t>Deploy the dashboard for enterprise level decision making with advanced security and scalability features.</a:t>
            </a:r>
          </a:p>
          <a:p>
            <a:pPr marL="0" indent="0">
              <a:buNone/>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9D7BEC-26CE-96DB-DC10-B2897FA510E0}"/>
              </a:ext>
            </a:extLst>
          </p:cNvPr>
          <p:cNvSpPr>
            <a:spLocks noGrp="1"/>
          </p:cNvSpPr>
          <p:nvPr>
            <p:ph type="title"/>
          </p:nvPr>
        </p:nvSpPr>
        <p:spPr>
          <a:xfrm>
            <a:off x="166254" y="747650"/>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r>
              <a:rPr lang="en-US" sz="2000" dirty="0" smtClean="0">
                <a:latin typeface="Times New Roman" panose="02020603050405020304" pitchFamily="18" charset="0"/>
                <a:cs typeface="Times New Roman" panose="02020603050405020304" pitchFamily="18" charset="0"/>
              </a:rPr>
              <a:t>Historical </a:t>
            </a:r>
            <a:r>
              <a:rPr lang="en-US" sz="2000" dirty="0">
                <a:latin typeface="Times New Roman" panose="02020603050405020304" pitchFamily="18" charset="0"/>
                <a:cs typeface="Times New Roman" panose="02020603050405020304" pitchFamily="18" charset="0"/>
              </a:rPr>
              <a:t>Gold Price Dataset </a:t>
            </a:r>
            <a:r>
              <a:rPr lang="en-US" sz="2000" dirty="0" smtClean="0">
                <a:latin typeface="Times New Roman" panose="02020603050405020304" pitchFamily="18" charset="0"/>
                <a:cs typeface="Times New Roman" panose="02020603050405020304" pitchFamily="18" charset="0"/>
              </a:rPr>
              <a:t>source from </a:t>
            </a:r>
            <a:r>
              <a:rPr lang="en-US" sz="2000" dirty="0" err="1" smtClean="0">
                <a:latin typeface="Times New Roman" panose="02020603050405020304" pitchFamily="18" charset="0"/>
                <a:cs typeface="Times New Roman" panose="02020603050405020304" pitchFamily="18" charset="0"/>
              </a:rPr>
              <a:t>Kaggle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Microsoft Power BI Documentation.</a:t>
            </a:r>
          </a:p>
          <a:p>
            <a:r>
              <a:rPr lang="en-US" sz="2000" dirty="0">
                <a:latin typeface="Times New Roman" panose="02020603050405020304" pitchFamily="18" charset="0"/>
                <a:cs typeface="Times New Roman" panose="02020603050405020304" pitchFamily="18" charset="0"/>
              </a:rPr>
              <a:t>Financial market analysis resources and online research articles.</a:t>
            </a:r>
          </a:p>
          <a:p>
            <a:pPr marL="0" indent="0">
              <a:buNone/>
            </a:pPr>
            <a:r>
              <a:rPr lang="en-IN" sz="2200" dirty="0" smtClean="0">
                <a:latin typeface="Franklin Gothic Book"/>
              </a:rPr>
              <a:t>GitHub </a:t>
            </a:r>
            <a:r>
              <a:rPr lang="en-IN" sz="2200" dirty="0">
                <a:latin typeface="Franklin Gothic Book"/>
              </a:rPr>
              <a:t>Link:</a:t>
            </a:r>
            <a:r>
              <a:rPr lang="en-IN" sz="2200" dirty="0">
                <a:solidFill>
                  <a:srgbClr val="0070C0"/>
                </a:solidFill>
                <a:latin typeface="Franklin Gothic Book"/>
              </a:rPr>
              <a:t> </a:t>
            </a:r>
            <a:r>
              <a:rPr lang="en-IN" sz="2200" u="sng" dirty="0">
                <a:solidFill>
                  <a:srgbClr val="0070C0"/>
                </a:solidFill>
                <a:latin typeface="Franklin Gothic Book"/>
              </a:rPr>
              <a:t>Link</a:t>
            </a: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646</Words>
  <Application>Microsoft Office PowerPoint</Application>
  <PresentationFormat>Custom</PresentationFormat>
  <Paragraphs>65</Paragraphs>
  <Slides>11</Slides>
  <Notes>2</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Lenovo</cp:lastModifiedBy>
  <cp:revision>107</cp:revision>
  <dcterms:created xsi:type="dcterms:W3CDTF">2024-05-21T11:55:07Z</dcterms:created>
  <dcterms:modified xsi:type="dcterms:W3CDTF">2026-03-15T12:51:09Z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